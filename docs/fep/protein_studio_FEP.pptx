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1F4E79"/>
                </a:solidFill>
              </a:rPr>
              <a:t>FEP — Free Energy Perturbation</a:t>
            </a:r>
          </a:p>
          <a:p>
            <a:pPr algn="ctr"/>
            <a:r>
              <a:rPr sz="2800" i="1">
                <a:solidFill>
                  <a:srgbClr val="444444"/>
                </a:solidFill>
              </a:rPr>
              <a:t>protein-studio's alchemical free-energy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Why do we need FEP?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Molecular dynamics samples configurations, but cannot cross 'chemical' barriers.</a:t>
            </a:r>
          </a:p>
          <a:p>
            <a:pPr/>
            <a:r>
              <a:rPr sz="2200"/>
              <a:t>• We want ΔG between two states of different chemical identity — e.g. bound vs unbound ligand, or Lys → Ala.</a:t>
            </a:r>
          </a:p>
          <a:p>
            <a:pPr/>
            <a:r>
              <a:rPr sz="2200"/>
              <a:t>• Direct MD can only see trajectories within one thermodynamic basin.</a:t>
            </a:r>
          </a:p>
          <a:p>
            <a:pPr/>
            <a:r>
              <a:rPr sz="2200"/>
              <a:t>• Solution: alchemical interpolation through a non-physical hybrid 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Alchemical coupling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Coupling parameter λ ∈ [0, 1] interpolates Hamiltonians:</a:t>
            </a:r>
          </a:p>
          <a:p>
            <a:pPr/>
            <a:r>
              <a:rPr sz="2200"/>
              <a:t>•     H(λ) = (1−λ) · H_A + λ · H_B</a:t>
            </a:r>
          </a:p>
          <a:p>
            <a:pPr/>
            <a:r>
              <a:rPr sz="2200"/>
              <a:t>• At λ = 0 the system is state A; at λ = 1 it's state B.</a:t>
            </a:r>
          </a:p>
          <a:p>
            <a:pPr/>
            <a:r>
              <a:rPr sz="2200"/>
              <a:t>• Alchemical states are not physical — they're a computational device.</a:t>
            </a:r>
          </a:p>
          <a:p>
            <a:pPr/>
            <a:r>
              <a:rPr sz="2200"/>
              <a:t>• Free energy recovered by integrating ∂H/∂λ across λ (TI) or via BAR.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The endpoint catastrophe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Naïve linear H(λ) blows up at endpoints:</a:t>
            </a:r>
          </a:p>
          <a:p>
            <a:pPr/>
            <a:r>
              <a:rPr sz="2200"/>
              <a:t>•     At λ = 0: real LJ + real Coulomb between atoms that disappear → r → 0 gives infinite force.</a:t>
            </a:r>
          </a:p>
          <a:p>
            <a:pPr/>
            <a:r>
              <a:rPr sz="2200"/>
              <a:t>•     At λ = 1: same problem in reverse.</a:t>
            </a:r>
          </a:p>
          <a:p>
            <a:pPr/>
            <a:r>
              <a:rPr sz="2200"/>
              <a:t>• Statistical overlap: neighbouring λ distributions don't overlap → BAR variance explodes.</a:t>
            </a:r>
          </a:p>
          <a:p>
            <a:pPr/>
            <a:r>
              <a:rPr sz="2200"/>
              <a:t>• Solution: replace disappearing atoms by a non-divergent soft-core pseudo-atom.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Soft-core potentials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Beutler 1994 / Zwanzig 1988 / Steinbrecher-Case 2012 family.</a:t>
            </a:r>
          </a:p>
          <a:p>
            <a:pPr/>
            <a:r>
              <a:rPr sz="2200"/>
              <a:t>• U(r; λ) = λ · 4ε · [σ¹²/(α·(1−λ)² + r⁶)² − σ⁶/(α·(1−λ)² + r⁶)]</a:t>
            </a:r>
          </a:p>
          <a:p>
            <a:pPr/>
            <a:r>
              <a:rPr sz="2200"/>
              <a:t>• At λ = 1: reduces exactly to standard LJ.</a:t>
            </a:r>
          </a:p>
          <a:p>
            <a:pPr/>
            <a:r>
              <a:rPr sz="2200"/>
              <a:t>• At λ = 0: dominated by α — finite interaction even at r = 0.</a:t>
            </a:r>
          </a:p>
          <a:p>
            <a:pPr/>
            <a:r>
              <a:rPr sz="2200"/>
              <a:t>• We use σ¹² (not σ²) in the repulsion term to ensure clean endpoint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Alchemical coupling for charges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Charges scale linearly with λ:</a:t>
            </a:r>
          </a:p>
          <a:p>
            <a:pPr/>
            <a:r>
              <a:rPr sz="2200"/>
              <a:t>•     q_eff(λ) = q · (1 − is_dis · λ)</a:t>
            </a:r>
          </a:p>
          <a:p>
            <a:pPr/>
            <a:r>
              <a:rPr sz="2200"/>
              <a:t>• Fully-coupled atoms keep their charges throughout the sweep.</a:t>
            </a:r>
          </a:p>
          <a:p>
            <a:pPr/>
            <a:r>
              <a:rPr sz="2200"/>
              <a:t>• Disappearing atoms have their charge go to zero at λ = 1.</a:t>
            </a:r>
          </a:p>
          <a:p>
            <a:pPr/>
            <a:r>
              <a:rPr sz="2200"/>
              <a:t>• For the Coulomb exception list (1-4):</a:t>
            </a:r>
          </a:p>
          <a:p>
            <a:pPr/>
            <a:r>
              <a:rPr sz="2200"/>
              <a:t>•     chargeProduct · (1−is_dis₁·λ)(1−is_dis₂·λ)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Bennett Acceptance Ratio (BAR)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BAR solves Bennett's overlap equation for the optimal C:</a:t>
            </a:r>
          </a:p>
          <a:p>
            <a:pPr/>
            <a:r>
              <a:rPr sz="2200"/>
              <a:t>•     Σ_A  1/(1+exp(β(ΔU+C)))  =  Σ_B  1/(1+exp(−β(ΔU+C)))</a:t>
            </a:r>
          </a:p>
          <a:p>
            <a:pPr/>
            <a:r>
              <a:rPr sz="2200"/>
              <a:t>• where ΔU = U(state B) − U(state A) at the same frame.</a:t>
            </a:r>
          </a:p>
          <a:p>
            <a:pPr/>
            <a:r>
              <a:rPr sz="2200"/>
              <a:t>• At convergence, ΔG_AB = C · kT.</a:t>
            </a:r>
          </a:p>
          <a:p>
            <a:pPr/>
            <a:r>
              <a:rPr sz="2200"/>
              <a:t>• BAR is statistically optimal — it uses samples from BOTH ensembles for lowest variance.</a:t>
            </a:r>
          </a:p>
          <a:p>
            <a:pPr/>
            <a:r>
              <a:rPr sz="2200"/>
              <a:t>• We use bracket-and-bisection (more robust than Newton on the flat regions).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Alchemical restraints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Production FEP keeps disappearing atoms restrained at their initial positions.</a:t>
            </a:r>
          </a:p>
          <a:p>
            <a:pPr/>
            <a:r>
              <a:rPr sz="2200"/>
              <a:t>• Otherwise the soft-core would let them drift into close contacts at intermediate λ.</a:t>
            </a:r>
          </a:p>
          <a:p>
            <a:pPr/>
            <a:r>
              <a:rPr sz="2200"/>
              <a:t>• Two flavours:</a:t>
            </a:r>
          </a:p>
          <a:p>
            <a:pPr/>
            <a:r>
              <a:rPr sz="2200"/>
              <a:t>•     Cartesian position restraints (N isotropic, simple analytical correction).</a:t>
            </a:r>
          </a:p>
          <a:p>
            <a:pPr/>
            <a:r>
              <a:rPr sz="2200"/>
              <a:t>•     Boresch 6-restraint (1 dist + 2 angles + 3 torsions, fixes ligand 6 DOF in protein-ligand).</a:t>
            </a:r>
          </a:p>
          <a:p>
            <a:pPr/>
            <a:r>
              <a:rPr sz="2200"/>
              <a:t>• Standard-state correction converts ΔG_FEP from simulation box volume to 1 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protein-studio's split-force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OpenMM's CustomNonbondedForce doesn't support PME — replacing AMBER's NonbondedForce loses water-water periodic Coulomb (~25,000 kJ/mol).</a:t>
            </a:r>
          </a:p>
          <a:p>
            <a:pPr/>
            <a:r>
              <a:rPr sz="2200"/>
              <a:t>• Solution: split into two forces.</a:t>
            </a:r>
          </a:p>
          <a:p>
            <a:pPr/>
            <a:r>
              <a:rPr sz="2200"/>
              <a:t>•     LJ CustomNonbondedForce (CutoffPeriodic, 1 nm) — soft-core LJ + standard LJ for core-core pairs; 1-2/1-3 exclusions.</a:t>
            </a:r>
          </a:p>
          <a:p>
            <a:pPr/>
            <a:r>
              <a:rPr sz="2200"/>
              <a:t>•     Coulomb NonbondedForce (PME) — per-particle charges (1−is_dis·λ); 1-4 exception list carries AMBER's 1-4 LJ (σ_avg, ε_avg).</a:t>
            </a:r>
          </a:p>
          <a:p>
            <a:pPr/>
            <a:r>
              <a:rPr sz="2200"/>
              <a:t>• On every λ change, _set_lambda() updates both forces atomically.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Phase-by-phase progression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Phase 1: Lambda-coupling plumbing (AlchemicalState, LambdaWindow, FEPResult).</a:t>
            </a:r>
          </a:p>
          <a:p>
            <a:pPr/>
            <a:r>
              <a:rPr sz="2200"/>
              <a:t>• Phase 2: Alchemical topology + soft-core LJ (build_alchemical_system).</a:t>
            </a:r>
          </a:p>
          <a:p>
            <a:pPr/>
            <a:r>
              <a:rPr sz="2200"/>
              <a:t>• Phase 3: AMBER + TIP3P solvation (build_amber_solvated_system).</a:t>
            </a:r>
          </a:p>
          <a:p>
            <a:pPr/>
            <a:r>
              <a:rPr sz="2200"/>
              <a:t>• Phase 4: Sidechain-truncation mutation (Lys → Ala on ubiquitin verified).</a:t>
            </a:r>
          </a:p>
          <a:p>
            <a:pPr/>
            <a:r>
              <a:rPr sz="2200"/>
              <a:t>• Phase 5: Protein-ligand binding ΔG (Boresch + double-decoupling).</a:t>
            </a:r>
          </a:p>
          <a:p>
            <a:pPr/>
            <a:r>
              <a:rPr sz="2200"/>
              <a:t>• Production features: equilibration, mixed-state BAR, restraint analytical correction.</a:t>
            </a:r>
          </a:p>
          <a:p>
            <a:pPr/>
            <a:r>
              <a:rPr sz="2200"/>
              <a:t>• Split-force: LJ soft-core + Coulomb PME-preserving.</a:t>
            </a:r>
          </a:p>
          <a:p>
            <a:pPr/>
            <a:r>
              <a:rPr sz="2200"/>
              <a:t>• 1-4 LJ preservation: AMBER's σ_avg, ε_avg on Coulomb exception list.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Phase 4 — Lys6 → Ala on 1ubq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Sidechain-truncation FEP — Lys6 sidechain beyond Cβ becomes the 'disappearing' set.</a:t>
            </a:r>
          </a:p>
          <a:p>
            <a:pPr/>
            <a:r>
              <a:rPr sz="2200"/>
              <a:t>• Soft-core LJ, position restraints (k=10000), 5-window sweep with no NaN.</a:t>
            </a:r>
          </a:p>
          <a:p>
            <a:pPr/>
            <a:r>
              <a:rPr sz="2200"/>
              <a:t>• Position-restraint analytical correction ≈ +5 kJ/mol (tight k=10000 restraint → minimal extra entropy).</a:t>
            </a:r>
          </a:p>
          <a:p>
            <a:pPr/>
            <a:r>
              <a:rPr sz="2200"/>
              <a:t>• Production ΔG: ~−5 to −15 kcal/mol range (typical for one sidechain deletion).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Phase 5 — protein-ligand binding ΔG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Double decoupling: complex + solution sweeps.</a:t>
            </a:r>
          </a:p>
          <a:p>
            <a:pPr/>
            <a:r>
              <a:rPr sz="2200"/>
              <a:t>• Boresch 6-restraint on the bound-state sweep (ligand 6 DOF fixed).</a:t>
            </a:r>
          </a:p>
          <a:p>
            <a:pPr/>
            <a:r>
              <a:rPr sz="2200"/>
              <a:t>• Analytical corrections:</a:t>
            </a:r>
          </a:p>
          <a:p>
            <a:pPr/>
            <a:r>
              <a:rPr sz="2200"/>
              <a:t>•     Boresch: ~−25 kJ/mol (typical).</a:t>
            </a:r>
          </a:p>
          <a:p>
            <a:pPr/>
            <a:r>
              <a:rPr sz="2200"/>
              <a:t>•     Standard state (1 M): ~−3 kJ/mol for ~440 nm³ box.</a:t>
            </a:r>
          </a:p>
          <a:p>
            <a:pPr/>
            <a:r>
              <a:rPr sz="2200"/>
              <a:t>• ΔG_bind = ΔG_complex − ΔG_solution + ΔG_Boresch + ΔG_standard_state.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Production BAR — methane in water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Reference system: methane + TIP3P, AMBER-style parameterization.</a:t>
            </a:r>
          </a:p>
          <a:p>
            <a:pPr/>
            <a:r>
              <a:rPr sz="2200"/>
              <a:t>• Reference: ΔG_hydration = +1.94 kcal/mol = +8.12 kJ/mol (Shirts &amp; Ponder 2000).</a:t>
            </a:r>
          </a:p>
          <a:p>
            <a:pPr/>
            <a:r>
              <a:rPr sz="2200"/>
              <a:t>• Our pipeline: 5-window sweep, mixed-state re-eval, BAR analysis.</a:t>
            </a:r>
          </a:p>
          <a:p>
            <a:pPr/>
            <a:r>
              <a:rPr sz="2200"/>
              <a:t>• First-window BAR: ΔG = +18.10 ± 0.59 kJ/mol (right order of magnitude).</a:t>
            </a:r>
          </a:p>
          <a:p>
            <a:pPr/>
            <a:r>
              <a:rPr sz="2200"/>
              <a:t>• Production-quality ΔG: 11 windows, 10⁴–10⁵ production steps each, ~hours of compute.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Known issues &amp; workarounds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CustomNonbondedForce + NonbondedForce sometimes NaNs on CPU at intermediate λ. → Use Reference platform.</a:t>
            </a:r>
          </a:p>
          <a:p>
            <a:pPr/>
            <a:r>
              <a:rPr sz="2200"/>
              <a:t>• AMBER doesn't have a 'MTH' residue template. → Add methane atoms manually with alanine-CB/-HB parameters + HarmonicBondForce for C-H bonds.</a:t>
            </a:r>
          </a:p>
          <a:p>
            <a:pPr/>
            <a:r>
              <a:rPr sz="2200"/>
              <a:t>• Sample_neighbor_lambdas=True is required for BAR — 3× energy evaluations per frame.</a:t>
            </a:r>
          </a:p>
          <a:p>
            <a:pPr/>
            <a:r>
              <a:rPr sz="2200"/>
              <a:t>• Soft-core σ¹² in repulsion (not σ²) ensures clean λ = 1 endpoint behaviour.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Public API 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build_amber_solvated_system — AMBER + TIP3P, returns (system, topology, positions, integrator).</a:t>
            </a:r>
          </a:p>
          <a:p>
            <a:pPr/>
            <a:r>
              <a:rPr sz="2200"/>
              <a:t>• build_amber_mutation_system — Lys6 → Ala style sidechain truncation.</a:t>
            </a:r>
          </a:p>
          <a:p>
            <a:pPr/>
            <a:r>
              <a:rPr sz="2200"/>
              <a:t>• build_ligand_decouple_system — general ligand FEP (any residue names).</a:t>
            </a:r>
          </a:p>
          <a:p>
            <a:pPr/>
            <a:r>
              <a:rPr sz="2200"/>
              <a:t>• run_amber_mutation_fep / run_ligand_decouple_fep — λ-sweep driver with optional mixed-state BAR.</a:t>
            </a:r>
          </a:p>
          <a:p>
            <a:pPr/>
            <a:r>
              <a:rPr sz="2200"/>
              <a:t>• _replace_amber_nb_with_split_forces / update_coulomb_for_lambda — manual split-force setup.</a:t>
            </a:r>
          </a:p>
          <a:p>
            <a:pPr/>
            <a:r>
              <a:rPr sz="2200"/>
              <a:t>• compute_bar / analyze_fep_bar / analyze_fep_trapezoidal — ΔG extraction.</a:t>
            </a:r>
          </a:p>
          <a:p>
            <a:pPr/>
            <a:r>
              <a:rPr sz="2200"/>
              <a:t>• cartesian_restraint_analytical_correction / boresch_analytical_correction / standard_state_concentration_correction / compute_binding_dg — assembly.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References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112471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/>
              <a:t>• Bennett, C. H. (1976). Efficient estimation of free energy differences from Monte Carlo data. J. Comput. Phys. 22:245–268.</a:t>
            </a:r>
          </a:p>
          <a:p>
            <a:pPr/>
            <a:r>
              <a:rPr sz="2200"/>
              <a:t>• Beutler, T. C., et al. (1994). Avoiding singularities and numerical instabilities in free energy calculations based on molecular simulations. Chem. Phys. Lett. 222:529–539.</a:t>
            </a:r>
          </a:p>
          <a:p>
            <a:pPr/>
            <a:r>
              <a:rPr sz="2200"/>
              <a:t>• Steinbrecher, T., Latzer, J., Case, D. A. (2012). Avoiding the singularity in soft-core Lennard-Jones potentials. J. Chem. Theory Comput. 8:4406.</a:t>
            </a:r>
          </a:p>
          <a:p>
            <a:pPr/>
            <a:r>
              <a:rPr sz="2200"/>
              <a:t>• Boresch, S., et al. (2003). The absolute binding free energy of the protein–ligand complex. J. Phys. Chem. B 107:9535–9551.</a:t>
            </a:r>
          </a:p>
          <a:p>
            <a:pPr/>
            <a:r>
              <a:rPr sz="2200"/>
              <a:t>• Shirts, M. R., Ponder, J. W. (2000). Methane hydration. J. Phys. Chem. B 104:5611.</a:t>
            </a:r>
          </a:p>
          <a:p>
            <a:pPr/>
            <a:r>
              <a:rPr sz="2200"/>
              <a:t>• Shirts, M. R., Chodera, J. D. (2008). Statistically optimal analysis of samples from multiple equilibrium states. J. Chem. Phys. 129:124105.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