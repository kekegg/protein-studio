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B4F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REVIEW  /  2026.10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Protein-Studio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B4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AI-native 分子可视化 + 计算工作台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PySide6  +  PyVista  +  OpenMM  +  MCP   |   7 reps x 7 schemes  +  FEP  +  Docking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DrXie</a:t>
            </a:r>
            <a:pPr algn="l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algn="l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drug discovery tooling</a:t>
            </a:r>
            <a:pPr algn="l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algn="l" indent="0" marL="0">
              <a:buNone/>
            </a:pPr>
            <a:r>
              <a:rPr lang="en-US" sz="1300" b="1" dirty="0">
                <a:solidFill>
                  <a:srgbClr val="1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Engineering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  </a:t>
            </a:r>
            <a:pPr algn="l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0896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</a:t>
            </a:r>
            <a:pPr algn="l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  </a:t>
            </a:r>
            <a:pPr algn="l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sections  -  ~10 minutes  -  focus on architecture &amp; engineering decisions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34440" y="1444752"/>
            <a:ext cx="22860" cy="347472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371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 &amp; 现状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project, current scale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13716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34440" y="2011680"/>
            <a:ext cx="22860" cy="347472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19385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21284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Engine / Compute / IO / Control layers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9385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0545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234440" y="2578608"/>
            <a:ext cx="22860" cy="347472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25054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关键模块 - 表达矩阵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7797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reps x 7 schemes, SS-aware ribbon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250545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07238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234440" y="3145536"/>
            <a:ext cx="22860" cy="347472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21" name="Text 19"/>
          <p:cNvSpPr/>
          <p:nvPr/>
        </p:nvSpPr>
        <p:spPr>
          <a:xfrm>
            <a:off x="1417320" y="30723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FEP 计算引擎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34670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三层防护 + MD sweep 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307238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63931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1234440" y="3712464"/>
            <a:ext cx="22860" cy="347472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36393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控制平面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39136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 Agent 直接驱动工具链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363931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p.07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1371600"/>
            <a:ext cx="2103120" cy="3108960"/>
          </a:xfrm>
          <a:prstGeom prst="rect">
            <a:avLst>
              <a:gd name="adj" fmla="val 3478"/>
            </a:avLst>
          </a:prstGeom>
          <a:solidFill>
            <a:srgbClr val="E8EEF7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AT A GLANCE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1965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15,868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58000" y="2258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Python LOC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5328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119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58000" y="28254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files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099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161/162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58000" y="33924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36667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58000" y="3959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(this round)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Protein-Studio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Internal Tech Review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-  我们在解决什么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AI-native 分子可视化 + 计算工作台 - 给 drug discovery 团队的 agent-controllable 桌面工具链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52160" y="274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06040" cy="1417320"/>
          </a:xfrm>
          <a:prstGeom prst="rect">
            <a:avLst>
              <a:gd name="adj" fmla="val 5161"/>
            </a:avLst>
          </a:prstGeom>
          <a:solidFill>
            <a:srgbClr val="E8EEF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2606040" cy="91440"/>
          </a:xfrm>
          <a:prstGeom prst="rect">
            <a:avLst>
              <a:gd name="adj" fmla="val 50000"/>
            </a:avLst>
          </a:prstGeom>
          <a:solidFill>
            <a:srgbClr val="1B4FA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x 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 x scheme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表达矩阵全维度覆盖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06040" cy="1417320"/>
          </a:xfrm>
          <a:prstGeom prst="rect">
            <a:avLst>
              <a:gd name="adj" fmla="val 5161"/>
            </a:avLst>
          </a:prstGeom>
          <a:solidFill>
            <a:srgbClr val="E8EEF7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1417320"/>
            <a:ext cx="2606040" cy="91440"/>
          </a:xfrm>
          <a:prstGeom prst="rect">
            <a:avLst>
              <a:gd name="adj" fmla="val 50000"/>
            </a:avLst>
          </a:prstGeom>
          <a:solidFill>
            <a:srgbClr val="1B4FA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554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15,868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 LOC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个核心模块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06040" cy="1417320"/>
          </a:xfrm>
          <a:prstGeom prst="rect">
            <a:avLst>
              <a:gd name="adj" fmla="val 5161"/>
            </a:avLst>
          </a:prstGeom>
          <a:solidFill>
            <a:srgbClr val="E8EE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417320"/>
            <a:ext cx="2606040" cy="91440"/>
          </a:xfrm>
          <a:prstGeom prst="rect">
            <a:avLst>
              <a:gd name="adj" fmla="val 50000"/>
            </a:avLst>
          </a:prstGeom>
          <a:solidFill>
            <a:srgbClr val="1B4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554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计算引擎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OpenMM / Vina / EquiScore / pdbfixer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现有工具的痛点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PyMOL:  </a:t>
            </a:r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无法被 AI agent 脚本化驱动,CLI 缺失关键动作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3Dmol.js:  </a:t>
            </a:r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仅浏览器,接 compute 引擎要在两端桥接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968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Chimera / VMD:  </a:t>
            </a:r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老化,agent 集成需 patch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261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PyMol + scripts:  </a:t>
            </a:r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工程成本高,跨平台分发差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我们的定位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 </a:t>
            </a:r>
            <a:pPr algn="l"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桌面级可视化 (PySide6)  +  计算引擎 (OpenMM) 同进程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3767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 </a:t>
            </a:r>
            <a:pPr algn="l"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 显式暴露所有 GUI / 计算动作供 agent 调用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4151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 </a:t>
            </a:r>
            <a:pPr algn="l"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可视化精度对标 PyMOL, 计算精度对接 AmberTools 等基线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Protein-Studio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Internal Tech Review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-  整体架构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分层单一职责,自下而上:数据 IO  -&gt;  计算  -&gt;  引擎  -&gt;  UI  -&gt;  Agent 控制面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52160" y="274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212080" cy="566928"/>
          </a:xfrm>
          <a:prstGeom prst="rect">
            <a:avLst>
              <a:gd name="adj" fmla="val 8065"/>
            </a:avLst>
          </a:prstGeom>
          <a:solidFill>
            <a:srgbClr val="1B4F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Control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stdio  +  HTTP  +  Qt transport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444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src/protein_studio/mcp_server.py (735 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5212080" cy="566928"/>
          </a:xfrm>
          <a:prstGeom prst="rect">
            <a:avLst>
              <a:gd name="adj" fmla="val 8065"/>
            </a:avLst>
          </a:prstGeom>
          <a:solidFill>
            <a:srgbClr val="E8EEF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84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311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PySide6 6.11  +  QMainWindow + dock widgets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src/protein_studio/ui/  (10 modules)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5212080" cy="566928"/>
          </a:xfrm>
          <a:prstGeom prst="rect">
            <a:avLst>
              <a:gd name="adj" fmla="val 8065"/>
            </a:avLst>
          </a:prstGeom>
          <a:solidFill>
            <a:srgbClr val="E8EEF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42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8895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PyVista (VTK)  +  pyvistaqt QtInteractor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src/protein_studio/ui/viewport.py (922 L)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5212080" cy="566928"/>
          </a:xfrm>
          <a:prstGeom prst="rect">
            <a:avLst>
              <a:gd name="adj" fmla="val 8065"/>
            </a:avLst>
          </a:prstGeom>
          <a:solidFill>
            <a:srgbClr val="E8EEF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00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5478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OpenMM 8.6  +  AutoDock Vina  +  EquiScore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3419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src/protein_studio/core/ (15 modules)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5212080" cy="566928"/>
          </a:xfrm>
          <a:prstGeom prst="rect">
            <a:avLst>
              <a:gd name="adj" fmla="val 8065"/>
            </a:avLst>
          </a:prstGeom>
          <a:solidFill>
            <a:srgbClr val="E8EEF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59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PDB / PDBQT / DCD / POS  parsers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4078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src/protein_studio/core/io.py + trajectory.py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5216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同进程 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与计算共用 Python 进程,避免跨进程 context 传递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API-first 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层是 source of truth,GUI 只是 API 的一个调用方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三层防护 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计算作业加入 retry/drop/minimise 三层容错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单一职责 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每个核心模块只负责一种表达或一种 IO 格式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Protein-Studio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Internal Tech Review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-  表达矩阵: 7 reps x 7 schemes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任意表达 x 任意着色方案 = 49 种可瞬间切换的展示组合,代表性模块 representations.py (1938 L)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52160" y="274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by_chain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by_ss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371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pLDDT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17520" y="1371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11880" y="1371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06240" y="1371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bfactor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 / scheme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737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cartoon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34440" y="17373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17373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17373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17373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11880" y="17373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17373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7373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1031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ribbon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34440" y="21031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21031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21031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21031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21031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21031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1031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68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ball_stick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34440" y="246888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0" y="246888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160" y="246888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46888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246888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246888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246888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234440" y="283464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0" y="283464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23160" y="283464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283464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11880" y="283464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06240" y="283464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283464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2004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234440" y="320040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0" y="320040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23160" y="320040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17520" y="320040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11880" y="320040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06240" y="320040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320040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5661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esp_surface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234440" y="35661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28800" y="35661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23160" y="35661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17520" y="35661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11880" y="35661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06240" y="35661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356616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3931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234440" y="39319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28800" y="39319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423160" y="39319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17520" y="39319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11880" y="39319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39319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800600" y="3931920"/>
            <a:ext cx="557784" cy="329184"/>
          </a:xfrm>
          <a:prstGeom prst="rect">
            <a:avLst>
              <a:gd name="adj" fmla="val 555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389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49 组合均可用;部分 (esp x uniform) 视觉上退化为另一种组合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858000" y="1371600"/>
            <a:ext cx="1920240" cy="3017520"/>
          </a:xfrm>
          <a:prstGeom prst="rect">
            <a:avLst>
              <a:gd name="adj" fmla="val 4762"/>
            </a:avLst>
          </a:prstGeom>
          <a:solidFill>
            <a:srgbClr val="1A1F2E"/>
          </a:solidFill>
          <a:ln/>
        </p:spPr>
      </p:sp>
      <p:sp>
        <p:nvSpPr>
          <p:cNvPr id="71" name="Text 69"/>
          <p:cNvSpPr/>
          <p:nvPr/>
        </p:nvSpPr>
        <p:spPr>
          <a:xfrm>
            <a:off x="704088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HIGHLIGHT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04088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SS-aware ribbon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7040880" y="2212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自研,不靠 PyMOL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040880" y="2560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alpha-helix: 圆柱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040880" y="28895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beta-sheet: 箭头扁带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04088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loop: 平滑 tube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040880" y="35478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二级结构自动推断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040880" y="38770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PyMOL 同级视觉质量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Protein-Studio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Internal Tech Review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22960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-  FEP 计算引擎 &amp; NaN 三层防护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OpenMM solvation + multi-lambda sweep,核心 fep.py (3214 L),三层防护规避生产期 NaN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52160" y="274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FEP ENGINE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508760" cy="1371600"/>
          </a:xfrm>
          <a:prstGeom prst="rect">
            <a:avLst>
              <a:gd name="adj" fmla="val 4000"/>
            </a:avLst>
          </a:prstGeom>
          <a:solidFill>
            <a:srgbClr val="E8EEF7"/>
          </a:solidFill>
          <a:ln w="19050">
            <a:solidFill>
              <a:srgbClr val="1B4F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581912"/>
            <a:ext cx="365760" cy="365760"/>
          </a:xfrm>
          <a:prstGeom prst="ellipse">
            <a:avLst/>
          </a:prstGeom>
          <a:solidFill>
            <a:srgbClr val="1B4FA0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PDB prep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075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scripts/prep_pdb_for_fep.py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3500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pdbfixer + cleanup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1800000">
            <a:off x="1901952" y="2130552"/>
            <a:ext cx="128016" cy="146304"/>
          </a:xfrm>
          <a:prstGeom prst="rtTriangle">
            <a:avLst/>
          </a:prstGeom>
          <a:solidFill>
            <a:srgbClr val="5A647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508760"/>
            <a:ext cx="1508760" cy="1371600"/>
          </a:xfrm>
          <a:prstGeom prst="rect">
            <a:avLst>
              <a:gd name="adj" fmla="val 4000"/>
            </a:avLst>
          </a:prstGeom>
          <a:solidFill>
            <a:srgbClr val="E8EEF7"/>
          </a:solidFill>
          <a:ln w="19050">
            <a:solidFill>
              <a:srgbClr val="1B4F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0552" y="1581912"/>
            <a:ext cx="365760" cy="365760"/>
          </a:xfrm>
          <a:prstGeom prst="ellipse">
            <a:avLst/>
          </a:prstGeom>
          <a:solidFill>
            <a:srgbClr val="1B4FA0"/>
          </a:solidFill>
          <a:ln/>
        </p:spPr>
      </p:sp>
      <p:sp>
        <p:nvSpPr>
          <p:cNvPr id="14" name="Text 12"/>
          <p:cNvSpPr/>
          <p:nvPr/>
        </p:nvSpPr>
        <p:spPr>
          <a:xfrm>
            <a:off x="213055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16002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21992" y="2075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build_amber_solvated_system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21992" y="23500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TIP3P  +  padding retry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1800000">
            <a:off x="3593592" y="2130552"/>
            <a:ext cx="128016" cy="146304"/>
          </a:xfrm>
          <a:prstGeom prst="rtTriangle">
            <a:avLst/>
          </a:prstGeom>
          <a:solidFill>
            <a:srgbClr val="5A6478"/>
          </a:solidFill>
          <a:ln/>
        </p:spPr>
      </p:sp>
      <p:sp>
        <p:nvSpPr>
          <p:cNvPr id="19" name="Shape 17"/>
          <p:cNvSpPr/>
          <p:nvPr/>
        </p:nvSpPr>
        <p:spPr>
          <a:xfrm>
            <a:off x="3749040" y="1508760"/>
            <a:ext cx="1508760" cy="1371600"/>
          </a:xfrm>
          <a:prstGeom prst="rect">
            <a:avLst>
              <a:gd name="adj" fmla="val 4000"/>
            </a:avLst>
          </a:prstGeom>
          <a:solidFill>
            <a:srgbClr val="E8EEF7"/>
          </a:solidFill>
          <a:ln w="19050">
            <a:solidFill>
              <a:srgbClr val="1B4F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22192" y="1581912"/>
            <a:ext cx="365760" cy="365760"/>
          </a:xfrm>
          <a:prstGeom prst="ellipse">
            <a:avLst/>
          </a:prstGeom>
          <a:solidFill>
            <a:srgbClr val="1B4FA0"/>
          </a:solidFill>
          <a:ln/>
        </p:spPr>
      </p:sp>
      <p:sp>
        <p:nvSpPr>
          <p:cNvPr id="21" name="Text 19"/>
          <p:cNvSpPr/>
          <p:nvPr/>
        </p:nvSpPr>
        <p:spPr>
          <a:xfrm>
            <a:off x="382219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51960" y="16002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13632" y="2075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_protein_minimise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13632" y="23500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LBFGS  +  drop loop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1800000">
            <a:off x="5285232" y="2130552"/>
            <a:ext cx="128016" cy="146304"/>
          </a:xfrm>
          <a:prstGeom prst="rtTriangle">
            <a:avLst/>
          </a:prstGeom>
          <a:solidFill>
            <a:srgbClr val="5A6478"/>
          </a:solidFill>
          <a:ln/>
        </p:spPr>
      </p:sp>
      <p:sp>
        <p:nvSpPr>
          <p:cNvPr id="26" name="Shape 24"/>
          <p:cNvSpPr/>
          <p:nvPr/>
        </p:nvSpPr>
        <p:spPr>
          <a:xfrm>
            <a:off x="5440680" y="1508760"/>
            <a:ext cx="1508760" cy="1371600"/>
          </a:xfrm>
          <a:prstGeom prst="rect">
            <a:avLst>
              <a:gd name="adj" fmla="val 4000"/>
            </a:avLst>
          </a:prstGeom>
          <a:solidFill>
            <a:srgbClr val="E8EEF7"/>
          </a:solidFill>
          <a:ln w="19050">
            <a:solidFill>
              <a:srgbClr val="1B4F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13832" y="1581912"/>
            <a:ext cx="365760" cy="365760"/>
          </a:xfrm>
          <a:prstGeom prst="ellipse">
            <a:avLst/>
          </a:prstGeom>
          <a:solidFill>
            <a:srgbClr val="1B4FA0"/>
          </a:solidFill>
          <a:ln/>
        </p:spPr>
      </p:sp>
      <p:sp>
        <p:nvSpPr>
          <p:cNvPr id="28" name="Text 26"/>
          <p:cNvSpPr/>
          <p:nvPr/>
        </p:nvSpPr>
        <p:spPr>
          <a:xfrm>
            <a:off x="551383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0" y="16002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Pre-equil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05272" y="2075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fep_reference.py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05272" y="23500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NVT  +  NPT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rot="1800000">
            <a:off x="6976872" y="2130552"/>
            <a:ext cx="128016" cy="146304"/>
          </a:xfrm>
          <a:prstGeom prst="rtTriangle">
            <a:avLst/>
          </a:prstGeom>
          <a:solidFill>
            <a:srgbClr val="5A6478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0" y="1508760"/>
            <a:ext cx="1508760" cy="1371600"/>
          </a:xfrm>
          <a:prstGeom prst="rect">
            <a:avLst>
              <a:gd name="adj" fmla="val 4000"/>
            </a:avLst>
          </a:prstGeom>
          <a:solidFill>
            <a:srgbClr val="E8EEF7"/>
          </a:solidFill>
          <a:ln w="19050">
            <a:solidFill>
              <a:srgbClr val="1B4F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05472" y="1581912"/>
            <a:ext cx="365760" cy="365760"/>
          </a:xfrm>
          <a:prstGeom prst="ellipse">
            <a:avLst/>
          </a:prstGeom>
          <a:solidFill>
            <a:srgbClr val="1B4FA0"/>
          </a:solidFill>
          <a:ln/>
        </p:spPr>
      </p:sp>
      <p:sp>
        <p:nvSpPr>
          <p:cNvPr id="35" name="Text 33"/>
          <p:cNvSpPr/>
          <p:nvPr/>
        </p:nvSpPr>
        <p:spPr>
          <a:xfrm>
            <a:off x="720547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635240" y="16002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Lambda sweep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96912" y="2075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fep.py sweep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96912" y="23500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multi-lambda MD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154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 三层防护 (added this round)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65760" y="3611880"/>
            <a:ext cx="2606040" cy="1005840"/>
          </a:xfrm>
          <a:prstGeom prst="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B4F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611880"/>
            <a:ext cx="502920" cy="1005840"/>
          </a:xfrm>
          <a:prstGeom prst="rect">
            <a:avLst>
              <a:gd name="adj" fmla="val 10909"/>
            </a:avLst>
          </a:prstGeom>
          <a:solidFill>
            <a:srgbClr val="1B4FA0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611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05840" y="3749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Padding retry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05840" y="4069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0.8 -&gt; 1.1 -&gt; 1.4 nm,逐级放大 water box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3611880"/>
            <a:ext cx="2606040" cy="1005840"/>
          </a:xfrm>
          <a:prstGeom prst="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B4F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3611880"/>
            <a:ext cx="502920" cy="1005840"/>
          </a:xfrm>
          <a:prstGeom prst="rect">
            <a:avLst>
              <a:gd name="adj" fmla="val 10909"/>
            </a:avLst>
          </a:prstGeom>
          <a:solidFill>
            <a:srgbClr val="1B4FA0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0" y="3611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3840480" y="3749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 loop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840480" y="4069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去掉空间冲突的随机水分子,再 minimize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35040" y="3611880"/>
            <a:ext cx="2606040" cy="1005840"/>
          </a:xfrm>
          <a:prstGeom prst="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B4F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35040" y="3611880"/>
            <a:ext cx="502920" cy="1005840"/>
          </a:xfrm>
          <a:prstGeom prst="rect">
            <a:avLst>
              <a:gd name="adj" fmla="val 10909"/>
            </a:avLst>
          </a:prstGeom>
          <a:solidFill>
            <a:srgbClr val="1B4FA0"/>
          </a:solidFill>
          <a:ln/>
        </p:spPr>
      </p:sp>
      <p:sp>
        <p:nvSpPr>
          <p:cNvPr id="52" name="Text 50"/>
          <p:cNvSpPr/>
          <p:nvPr/>
        </p:nvSpPr>
        <p:spPr>
          <a:xfrm>
            <a:off x="6035040" y="3611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675120" y="3749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Protein minimise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675120" y="4069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先固定蛋白质仅松弛水分子,再放开全体系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Protein-Studio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Internal Tech Review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2960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-  MCP 控制平面: 让 AI Agent 直接驱动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stdio / HTTP / Qt 三种 transport,所有 GUI / 计算动作通过 MCP tools 暴露 (mcp_server.py 735 L)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52160" y="274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MCP CONTROL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754880" cy="1051560"/>
          </a:xfrm>
          <a:prstGeom prst="rect">
            <a:avLst>
              <a:gd name="adj" fmla="val 4348"/>
            </a:avLst>
          </a:prstGeom>
          <a:solidFill>
            <a:srgbClr val="E8EEF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25880"/>
            <a:ext cx="91440" cy="1051560"/>
          </a:xfrm>
          <a:prstGeom prst="rect">
            <a:avLst/>
          </a:prstGeom>
          <a:solidFill>
            <a:srgbClr val="1B4FA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stdio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Claude Desktop 同进程,原生命令通道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4754880" cy="1051560"/>
          </a:xfrm>
          <a:prstGeom prst="rect">
            <a:avLst>
              <a:gd name="adj" fmla="val 4348"/>
            </a:avLst>
          </a:prstGeom>
          <a:solidFill>
            <a:srgbClr val="E8EE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487168"/>
            <a:ext cx="91440" cy="1051560"/>
          </a:xfrm>
          <a:prstGeom prst="rect">
            <a:avLst/>
          </a:prstGeom>
          <a:solidFill>
            <a:srgbClr val="1B4FA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786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2578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multi-client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578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:7820/mcp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9900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并发访问,远程部署友好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48456"/>
            <a:ext cx="4754880" cy="1051560"/>
          </a:xfrm>
          <a:prstGeom prst="rect">
            <a:avLst>
              <a:gd name="adj" fmla="val 4348"/>
            </a:avLst>
          </a:prstGeom>
          <a:solidFill>
            <a:srgbClr val="E8EEF7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648456"/>
            <a:ext cx="91440" cy="1051560"/>
          </a:xfrm>
          <a:prstGeom prst="rect">
            <a:avLst/>
          </a:prstGeom>
          <a:solidFill>
            <a:srgbClr val="1B4FA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398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37360" y="3739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embedded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37398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in-process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1513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Python 进程,无 socket 开销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49240" y="1325880"/>
            <a:ext cx="3429000" cy="3246120"/>
          </a:xfrm>
          <a:prstGeom prst="rect">
            <a:avLst>
              <a:gd name="adj" fmla="val 2254"/>
            </a:avLst>
          </a:prstGeom>
          <a:solidFill>
            <a:srgbClr val="1A1F2E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1508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TOOLS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1783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surface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77840" y="22860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Protein ops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2542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load_pdb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set_representation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set_color_scheme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apply_alphafold_plddt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29992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ops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325526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run_fep_sweep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run_docking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prep_for_fep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with_checkpoint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37124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 ops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39684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capture_lambda_snapshots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get_disappearing_atoms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Protein-Studio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Internal Tech Review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为什么自研,而不是 fork PyMOL / wrap 3Dmol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三条路径对比 - 我们选的不是代码最短的那条,是 agent-controllable + 计算闭环最长那条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52160" y="274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TRADEOFFS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834640" cy="3246120"/>
          </a:xfrm>
          <a:prstGeom prst="rect">
            <a:avLst>
              <a:gd name="adj" fmla="val 2581"/>
            </a:avLst>
          </a:prstGeom>
          <a:solidFill>
            <a:srgbClr val="E8EE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90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Fork PyMOL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复刻 C/Python 混合源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21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7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496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7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algn="l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可视化质量齐平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7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algn="l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学界/业界熟悉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998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049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3741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49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桥 Py 维护难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301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49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几乎无法 agent 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49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打包跨平台痛苦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42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49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compute 闭环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187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325880"/>
            <a:ext cx="2834640" cy="3246120"/>
          </a:xfrm>
          <a:prstGeom prst="rect">
            <a:avLst>
              <a:gd name="adj" fmla="val 2581"/>
            </a:avLst>
          </a:prstGeom>
          <a:solidFill>
            <a:srgbClr val="E8EE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490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3Dmol.js wrap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74720" y="1856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viewer + Python 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2221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7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2496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7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algn="l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轻量,启动快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7523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7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algn="l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前端栈天然可控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30998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049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33741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49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 需维护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6301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49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 要建第二服务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3886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49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资源调度分裂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4142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49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snapshot/recording 跨层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4187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1325880"/>
            <a:ext cx="2834640" cy="3246120"/>
          </a:xfrm>
          <a:prstGeom prst="rect">
            <a:avLst>
              <a:gd name="adj" fmla="val 2581"/>
            </a:avLst>
          </a:prstGeom>
          <a:solidFill>
            <a:srgbClr val="1B4FA0"/>
          </a:solidFill>
          <a:ln w="12700">
            <a:solidFill>
              <a:srgbClr val="1B4F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490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自研 (PySide6)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00800" y="1856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我们的选择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2221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PROS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2496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+ compute 同一进程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27523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原生可接入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0083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SS-aware ribbon 自主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2644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zip 分发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3611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BA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3886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BA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000" dirty="0">
                <a:solidFill>
                  <a:srgbClr val="C5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前期投入大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4142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BA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000" dirty="0">
                <a:solidFill>
                  <a:srgbClr val="C5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需自己解决打包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43982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BA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000" dirty="0">
                <a:solidFill>
                  <a:srgbClr val="C5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需自己追 Visual 化学正确性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4187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Protein-Studio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Internal Tech Review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测试现状 &amp; 已知的工程债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 161/162 通过, 1 个 flaky 视觉项;本轮 +887/-120 LOC,已知限制清单 (透明披露)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52160" y="274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840480" cy="3246120"/>
          </a:xfrm>
          <a:prstGeom prst="rect">
            <a:avLst>
              <a:gd name="adj" fmla="val 2817"/>
            </a:avLst>
          </a:prstGeom>
          <a:solidFill>
            <a:srgbClr val="1B4FA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PASS RATE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 / 162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3566160" cy="164592"/>
          </a:xfrm>
          <a:prstGeom prst="rect">
            <a:avLst>
              <a:gd name="adj" fmla="val 50000"/>
            </a:avLst>
          </a:prstGeom>
          <a:solidFill>
            <a:srgbClr val="BFD0E8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3017520"/>
            <a:ext cx="3544147" cy="164592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99.4 % pass rate  |  1 flaky visual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A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test_ribbon_helix_is_cylindrical_not_flat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Python LOC  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15,868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files  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 /  4,469 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133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files  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325880"/>
            <a:ext cx="4297680" cy="3246120"/>
          </a:xfrm>
          <a:prstGeom prst="rect">
            <a:avLst>
              <a:gd name="adj" fmla="val 2817"/>
            </a:avLst>
          </a:prstGeom>
          <a:solidFill>
            <a:srgbClr val="E8EEF7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LIMITATIONS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本轮发现的工程债与已知 trade-off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FEP-NaN   </a:t>
            </a:r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OpenMM addSolvent close-pair 偶发 NaN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三层防护已加,但根因需外部 prep (AmberTools tleap / GROMACS grompp);已在 prep_pdb_for_fep.py 提供 fix path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761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   </a:t>
            </a:r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pyvistaqt 启动路径敏感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/usr/bin/python3 启动会触发 fallback;现已改善诊断提示. 下一步在 launcher 强制 conda env python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TEST-SLOW   </a:t>
            </a:r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Slow tests 在 5min timeout 上仍卡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需跑满 FEP sweep;应切换为分批/分线程,或预 cooked input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  </a:t>
            </a:r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跨平台打包未到位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41513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 试装成功但体积 ~600MB;后续考虑 conda-pack 或 dylib 裁剪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Protein-Studio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Internal Tech Review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 &amp; 讨论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下个迭代的 4 项工作 + 一个明确的 ask,留给评审讨论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52160" y="274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  -  接下来 6 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303520" cy="0"/>
          </a:xfrm>
          <a:prstGeom prst="line">
            <a:avLst/>
          </a:prstGeom>
          <a:noFill/>
          <a:ln w="25400">
            <a:solidFill>
              <a:srgbClr val="1B4F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993392"/>
            <a:ext cx="219456" cy="219456"/>
          </a:xfrm>
          <a:prstGeom prst="ellipse">
            <a:avLst/>
          </a:prstGeom>
          <a:solidFill>
            <a:srgbClr val="1B4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W1-2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-27432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收口 FEP NaN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-411480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prep_pdb_for_fep.py 串入 GUI,默认参数上线; 收口 last flaky visual test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61032" y="1993392"/>
            <a:ext cx="219456" cy="219456"/>
          </a:xfrm>
          <a:prstGeom prst="ellipse">
            <a:avLst/>
          </a:prstGeom>
          <a:solidFill>
            <a:srgbClr val="1B4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356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W3-4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9352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tools 扩展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6360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trajectory/snapshot/diff 工具; 引 MCP sampling 启发推理动作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28872" y="1993392"/>
            <a:ext cx="219456" cy="219456"/>
          </a:xfrm>
          <a:prstGeom prst="ellipse">
            <a:avLst/>
          </a:prstGeom>
          <a:solidFill>
            <a:srgbClr val="1B4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140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6136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 PoC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24200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 / conda-pack 试配; 体积目标 &lt; 250MB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96712" y="1993392"/>
            <a:ext cx="219456" cy="219456"/>
          </a:xfrm>
          <a:prstGeom prst="ellipse">
            <a:avLst/>
          </a:prstGeom>
          <a:solidFill>
            <a:srgbClr val="1B4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loop 联调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Lingsu Agent 端到端跑通: load -&gt; analyse -&gt; modify -&gt; visual -&gt; analyse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325880"/>
            <a:ext cx="2651760" cy="3291840"/>
          </a:xfrm>
          <a:prstGeom prst="rect">
            <a:avLst>
              <a:gd name="adj" fmla="val 3448"/>
            </a:avLst>
          </a:prstGeom>
          <a:solidFill>
            <a:srgbClr val="1B4FA0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REVIEW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355080" y="2286000"/>
            <a:ext cx="548640" cy="45720"/>
          </a:xfrm>
          <a:prstGeom prst="rect">
            <a:avLst/>
          </a:prstGeom>
          <a:solidFill>
            <a:srgbClr val="C5D2E8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tools schema 需要 review 吗?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 PoC 还是 conda-pack?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 任务是否要沙箱化?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Lingsu 集成的 contract 在哪层定义?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3891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  </a:t>
            </a:r>
            <a:pPr algn="l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Q&amp;A welcome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Protein-Studio</a:t>
            </a:r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Internal Tech Review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Protein-Studio Internal Tech Review</dc:title>
  <dc:subject>Protein-Studio project introduction and engineering decisions</dc:subject>
  <dc:creator>DrXie</dc:creator>
  <cp:lastModifiedBy>DrXie</cp:lastModifiedBy>
  <cp:revision>1</cp:revision>
  <dcterms:created xsi:type="dcterms:W3CDTF">2026-10-11T13:33:58Z</dcterms:created>
  <dcterms:modified xsi:type="dcterms:W3CDTF">2026-10-11T13:33:58Z</dcterms:modified>
</cp:coreProperties>
</file>